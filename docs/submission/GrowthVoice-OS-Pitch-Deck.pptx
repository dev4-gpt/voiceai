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4F1E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4F1EA"/>
                </a:solidFill>
                <a:latin typeface="Calibri"/>
              </a:rPr>
              <a:t>Pro gross margin by share of included minutes used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 gross margin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F1E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25% used</c:v>
                  </c:pt>
                  <c:pt idx="1">
                    <c:v>50% used</c:v>
                  </c:pt>
                  <c:pt idx="2">
                    <c:v>75% used</c:v>
                  </c:pt>
                  <c:pt idx="3">
                    <c:v>100% used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90.8</c:v>
                </c:pt>
                <c:pt idx="1">
                  <c:v>84.5</c:v>
                </c:pt>
                <c:pt idx="2">
                  <c:v>78.2</c:v>
                </c:pt>
                <c:pt idx="3">
                  <c:v>72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4F1E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3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115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GrowthVoice OS puts a voice agent on a website. It answers visitors in the browser, qualifies them, writes the lead into a CRM during the call, and handles US AI-disclosure and consent law. The demo is live at the URL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illustrative scenario, not a statistic: interest arrives when the buyer has time, and the website offers a form and a next-day reply. The alternatives are a chatbot people skip or staff on nights and weekends.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set it apart: it answers in voice in the browser; it takes real actions through tool calls during the conversation; and it handles US disclosure and consent before it listens.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orchestrator mints a short-lived token; the browser then streams audio directly to AssemblyAI. When the agent calls a tool, the browser executes it on the orchestrator over HTTP and returns the result, and the lead is written to Postgres during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conversational capability runs on the Voice Agent API. The key number is seven of seven tools registered, confirmed by the live API echoing them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it transcribes visitors on third-party sites, compliance is built into the agent: disclosure first, explicit opt-in in the 13 all-party-consent states, the strictest policy when location is unknown, and an append-only consent record. This is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tiers, all bought through real Stripe Checkout. Nothing activates until Stripe confirms payment through a signature-verified webhook. The demo runs Stripe in test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is $0.075 a minute all-in. Even if a customer uses every included minute, margin is about 72 percent; at typical usage it is higher. For the customer, one extra closed deal every 7.8 months pays for Pro at a $3,500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explicit about scope: everything on the left runs in the live demo. The right column is the next ninety days. No latency figure is claimed because none has been measured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is live. Start a call on the site, then open the widget preview to see it embedded on a sample third-party page. The code is public and MIT licensed.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1993392"/>
            <a:ext cx="112417" cy="768096"/>
          </a:xfrm>
          <a:prstGeom prst="roundRect">
            <a:avLst>
              <a:gd name="adj" fmla="val 50000"/>
            </a:avLst>
          </a:prstGeom>
          <a:solidFill>
            <a:srgbClr val="F2A93B">
              <a:alpha val="5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16475" y="1691640"/>
            <a:ext cx="112417" cy="1371600"/>
          </a:xfrm>
          <a:prstGeom prst="roundRect">
            <a:avLst>
              <a:gd name="adj" fmla="val 50000"/>
            </a:avLst>
          </a:prstGeom>
          <a:solidFill>
            <a:srgbClr val="F2A93B">
              <a:alpha val="67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20871" y="1307592"/>
            <a:ext cx="112417" cy="2139696"/>
          </a:xfrm>
          <a:prstGeom prst="roundRect">
            <a:avLst>
              <a:gd name="adj" fmla="val 50000"/>
            </a:avLst>
          </a:prstGeom>
          <a:solidFill>
            <a:srgbClr val="F2A93B">
              <a:alpha val="80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25266" y="1801368"/>
            <a:ext cx="112417" cy="1152144"/>
          </a:xfrm>
          <a:prstGeom prst="roundRect">
            <a:avLst>
              <a:gd name="adj" fmla="val 50000"/>
            </a:avLst>
          </a:prstGeom>
          <a:solidFill>
            <a:srgbClr val="F2A93B">
              <a:alpha val="64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29661" y="1005840"/>
            <a:ext cx="112417" cy="2743200"/>
          </a:xfrm>
          <a:prstGeom prst="roundRect">
            <a:avLst>
              <a:gd name="adj" fmla="val 50000"/>
            </a:avLst>
          </a:prstGeom>
          <a:solidFill>
            <a:srgbClr val="F2A93B">
              <a:alpha val="90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34056" y="1472184"/>
            <a:ext cx="112417" cy="1810512"/>
          </a:xfrm>
          <a:prstGeom prst="roundRect">
            <a:avLst>
              <a:gd name="adj" fmla="val 50000"/>
            </a:avLst>
          </a:prstGeom>
          <a:solidFill>
            <a:srgbClr val="F2A93B">
              <a:alpha val="75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38452" y="1143000"/>
            <a:ext cx="112417" cy="2468880"/>
          </a:xfrm>
          <a:prstGeom prst="roundRect">
            <a:avLst>
              <a:gd name="adj" fmla="val 50000"/>
            </a:avLst>
          </a:prstGeom>
          <a:solidFill>
            <a:srgbClr val="F2A93B">
              <a:alpha val="85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42847" y="1719072"/>
            <a:ext cx="112417" cy="1316736"/>
          </a:xfrm>
          <a:prstGeom prst="roundRect">
            <a:avLst>
              <a:gd name="adj" fmla="val 50000"/>
            </a:avLst>
          </a:prstGeom>
          <a:solidFill>
            <a:srgbClr val="F2A93B">
              <a:alpha val="67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47242" y="1362456"/>
            <a:ext cx="112417" cy="2029968"/>
          </a:xfrm>
          <a:prstGeom prst="roundRect">
            <a:avLst>
              <a:gd name="adj" fmla="val 50000"/>
            </a:avLst>
          </a:prstGeom>
          <a:solidFill>
            <a:srgbClr val="F2A93B">
              <a:alpha val="7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51638" y="1911096"/>
            <a:ext cx="112417" cy="932688"/>
          </a:xfrm>
          <a:prstGeom prst="roundRect">
            <a:avLst>
              <a:gd name="adj" fmla="val 50000"/>
            </a:avLst>
          </a:prstGeom>
          <a:solidFill>
            <a:srgbClr val="F2A93B">
              <a:alpha val="60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6033" y="1554480"/>
            <a:ext cx="112417" cy="1645920"/>
          </a:xfrm>
          <a:prstGeom prst="roundRect">
            <a:avLst>
              <a:gd name="adj" fmla="val 50000"/>
            </a:avLst>
          </a:prstGeom>
          <a:solidFill>
            <a:srgbClr val="F2A93B">
              <a:alpha val="7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60428" y="1074420"/>
            <a:ext cx="112417" cy="2606040"/>
          </a:xfrm>
          <a:prstGeom prst="roundRect">
            <a:avLst>
              <a:gd name="adj" fmla="val 50000"/>
            </a:avLst>
          </a:prstGeom>
          <a:solidFill>
            <a:srgbClr val="F2A93B">
              <a:alpha val="8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64824" y="1664208"/>
            <a:ext cx="112417" cy="1426464"/>
          </a:xfrm>
          <a:prstGeom prst="roundRect">
            <a:avLst>
              <a:gd name="adj" fmla="val 50000"/>
            </a:avLst>
          </a:prstGeom>
          <a:solidFill>
            <a:srgbClr val="F2A93B">
              <a:alpha val="6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9219" y="1280160"/>
            <a:ext cx="112417" cy="2194560"/>
          </a:xfrm>
          <a:prstGeom prst="roundRect">
            <a:avLst>
              <a:gd name="adj" fmla="val 50000"/>
            </a:avLst>
          </a:prstGeom>
          <a:solidFill>
            <a:srgbClr val="F2A93B">
              <a:alpha val="81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3614" y="1856232"/>
            <a:ext cx="112417" cy="1042416"/>
          </a:xfrm>
          <a:prstGeom prst="roundRect">
            <a:avLst>
              <a:gd name="adj" fmla="val 50000"/>
            </a:avLst>
          </a:prstGeom>
          <a:solidFill>
            <a:srgbClr val="F2A93B">
              <a:alpha val="6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8009" y="1499616"/>
            <a:ext cx="112417" cy="1755648"/>
          </a:xfrm>
          <a:prstGeom prst="roundRect">
            <a:avLst>
              <a:gd name="adj" fmla="val 50000"/>
            </a:avLst>
          </a:prstGeom>
          <a:solidFill>
            <a:srgbClr val="F2A93B">
              <a:alpha val="74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2405" y="1965960"/>
            <a:ext cx="112417" cy="822960"/>
          </a:xfrm>
          <a:prstGeom prst="roundRect">
            <a:avLst>
              <a:gd name="adj" fmla="val 50000"/>
            </a:avLst>
          </a:prstGeom>
          <a:solidFill>
            <a:srgbClr val="F2A93B">
              <a:alpha val="5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 VOICE AGENT HACKATHON · 2026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508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GrowthVoice OS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after-hours visitor gets an answer.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971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agent for your website that qualifies visitors out loud and writes leads into your CRM mid-call — with US disclosure and consent built in.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growthvoice-os.vercel.app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 show up after hours. The website answers the next morning.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" y="1600200"/>
            <a:ext cx="0" cy="2240280"/>
          </a:xfrm>
          <a:prstGeom prst="line">
            <a:avLst/>
          </a:prstGeom>
          <a:noFill/>
          <a:ln w="19050">
            <a:solidFill>
              <a:srgbClr val="2E34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256032" cy="2560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4264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9:40 pm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55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 on your pricing page has one question.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256032" cy="2560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1396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9:42 pm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3682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fill in the contact form and leave.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256032" cy="2560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8529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9:15 am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081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reply arrives the next business day.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256032" cy="256032"/>
          </a:xfrm>
          <a:prstGeom prst="ellipse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566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booked a call with someone who answered.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74920" y="1417320"/>
            <a:ext cx="3611880" cy="2697480"/>
          </a:xfrm>
          <a:prstGeom prst="roundRect">
            <a:avLst>
              <a:gd name="adj" fmla="val 4068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buyer is offered today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148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2395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reply tomorrow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770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chatbot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017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ignore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33924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SDR, nights and weekends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3639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to staff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voice agent that answers, acts and stays compliant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82770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in voice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clicks and speaks. No phone number, no download — it runs in the browser.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691640"/>
            <a:ext cx="566928" cy="56692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223" y="182770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Acts mid-call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calls tools while it talks, so the lead is created and qualified in your CRM before the call ends.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41732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691640"/>
            <a:ext cx="566928" cy="56692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863" y="182770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Compliant by design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it is an AI up front and asks consent where state law requires it — then keeps the record.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call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93776" y="1371600"/>
            <a:ext cx="1426464" cy="1371600"/>
          </a:xfrm>
          <a:prstGeom prst="roundRect">
            <a:avLst>
              <a:gd name="adj" fmla="val 8000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5179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8308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03120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clicks; the mic opens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56816" y="2057400"/>
            <a:ext cx="182880" cy="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76272" y="1371600"/>
            <a:ext cx="1426464" cy="1371600"/>
          </a:xfrm>
          <a:prstGeom prst="roundRect">
            <a:avLst>
              <a:gd name="adj" fmla="val 8000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40864" y="15179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78308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340864" y="2103120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Mints a short-lived voice token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39312" y="2057400"/>
            <a:ext cx="182880" cy="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58768" y="1371600"/>
            <a:ext cx="1426464" cy="1371600"/>
          </a:xfrm>
          <a:prstGeom prst="roundRect">
            <a:avLst>
              <a:gd name="adj" fmla="val 8000"/>
            </a:avLst>
          </a:prstGeom>
          <a:solidFill>
            <a:srgbClr val="1A1E27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23360" y="15179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178308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2103120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 API listens, reasons and speaks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21808" y="2057400"/>
            <a:ext cx="182880" cy="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41264" y="1371600"/>
            <a:ext cx="1426464" cy="1371600"/>
          </a:xfrm>
          <a:prstGeom prst="roundRect">
            <a:avLst>
              <a:gd name="adj" fmla="val 8000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05856" y="15179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705856" y="178308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705856" y="2103120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tool the agent called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04304" y="2057400"/>
            <a:ext cx="182880" cy="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23760" y="1371600"/>
            <a:ext cx="1426464" cy="1371600"/>
          </a:xfrm>
          <a:prstGeom prst="roundRect">
            <a:avLst>
              <a:gd name="adj" fmla="val 8000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88352" y="15179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178308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CRM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388352" y="2103120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written while the call continues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" y="3063240"/>
            <a:ext cx="3858768" cy="960120"/>
          </a:xfrm>
          <a:prstGeom prst="roundRect">
            <a:avLst>
              <a:gd name="adj" fmla="val 11429"/>
            </a:avLst>
          </a:prstGeom>
          <a:solidFill>
            <a:srgbClr val="232834"/>
          </a:solidFill>
          <a:ln w="12700">
            <a:solidFill>
              <a:srgbClr val="2328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" y="3291840"/>
            <a:ext cx="475488" cy="47548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493" y="3405957"/>
            <a:ext cx="247254" cy="24725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362456" y="3246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goes from the browser straight to AssemblyAI. The API key never leaves the server.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608576" y="3063240"/>
            <a:ext cx="3858768" cy="960120"/>
          </a:xfrm>
          <a:prstGeom prst="roundRect">
            <a:avLst>
              <a:gd name="adj" fmla="val 11429"/>
            </a:avLst>
          </a:prstGeom>
          <a:solidFill>
            <a:srgbClr val="232834"/>
          </a:solidFill>
          <a:ln w="12700">
            <a:solidFill>
              <a:srgbClr val="23283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837176" y="3291840"/>
            <a:ext cx="475488" cy="47548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293" y="3405957"/>
            <a:ext cx="247254" cy="247254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477256" y="3246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tool.call runs over HTTP and returns as tool.result — so the agent keeps talking with real data.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the AssemblyAI Voice Agent API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971800" cy="2880360"/>
          </a:xfrm>
          <a:prstGeom prst="roundRect">
            <a:avLst>
              <a:gd name="adj" fmla="val 3810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registered in session.update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live API: all seven echoed back in session.updated.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94760" y="1453896"/>
            <a:ext cx="329184" cy="32918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764" y="1532900"/>
            <a:ext cx="171176" cy="171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297680" y="141732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tokens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655064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Minted server-side; the key never reaches the browser.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94760" y="2020824"/>
            <a:ext cx="329184" cy="32918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764" y="2099828"/>
            <a:ext cx="171176" cy="171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97680" y="198424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streaming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222199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kHz PCM16 straight to AssemblyAI over WebSocket.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794760" y="2587752"/>
            <a:ext cx="329184" cy="32918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764" y="2666756"/>
            <a:ext cx="171176" cy="171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97680" y="255117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session.update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4297680" y="278892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disclosure greeting, voice and turn detection.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794760" y="3154680"/>
            <a:ext cx="329184" cy="32918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764" y="3233684"/>
            <a:ext cx="171176" cy="17117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297680" y="3118104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tool.call → tool.result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4297680" y="335584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tools, executed and answered mid-conversation.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794760" y="3721608"/>
            <a:ext cx="329184" cy="32918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764" y="3800612"/>
            <a:ext cx="171176" cy="17117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297680" y="368503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Barge-in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4297680" y="392277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interrupt_response on; playback stops when interrupted.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Compliant before it listens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AB 2905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746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an AI voice before any substantive exchange.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258568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SB 140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within the first 30 seconds.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191256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328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All-party-consent states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 can count as interception, so ask first.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opt-in required in 13 states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78308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232834"/>
          </a:solidFill>
          <a:ln w="12700">
            <a:solidFill>
              <a:srgbClr val="2E34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7830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50992" y="178308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232834"/>
          </a:solidFill>
          <a:ln w="12700">
            <a:solidFill>
              <a:srgbClr val="2E3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50992" y="17830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9944" y="178308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232834"/>
          </a:solidFill>
          <a:ln w="12700">
            <a:solidFill>
              <a:srgbClr val="2E3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17830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68896" y="178308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232834"/>
          </a:solidFill>
          <a:ln w="12700">
            <a:solidFill>
              <a:srgbClr val="2E34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68896" y="17830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27848" y="178308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232834"/>
          </a:solidFill>
          <a:ln w="12700">
            <a:solidFill>
              <a:srgbClr val="2E34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27848" y="17830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228600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232834"/>
          </a:solidFill>
          <a:ln w="12700">
            <a:solidFill>
              <a:srgbClr val="2E34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22860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50992" y="228600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232834"/>
          </a:solidFill>
          <a:ln w="12700">
            <a:solidFill>
              <a:srgbClr val="2E34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50992" y="22860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9944" y="228600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232834"/>
          </a:solidFill>
          <a:ln w="12700">
            <a:solidFill>
              <a:srgbClr val="2E34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9944" y="22860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68896" y="228600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232834"/>
          </a:solidFill>
          <a:ln w="12700">
            <a:solidFill>
              <a:srgbClr val="2E34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68896" y="22860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27848" y="228600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232834"/>
          </a:solidFill>
          <a:ln w="12700">
            <a:solidFill>
              <a:srgbClr val="2E34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27848" y="22860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278892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232834"/>
          </a:solidFill>
          <a:ln w="12700">
            <a:solidFill>
              <a:srgbClr val="2E34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92040" y="27889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50992" y="278892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232834"/>
          </a:solidFill>
          <a:ln w="12700">
            <a:solidFill>
              <a:srgbClr val="2E344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50992" y="27889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9944" y="278892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232834"/>
          </a:solidFill>
          <a:ln w="12700">
            <a:solidFill>
              <a:srgbClr val="2E344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9944" y="27889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92040" y="3401568"/>
            <a:ext cx="256032" cy="2560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488" y="3463016"/>
            <a:ext cx="133137" cy="133137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525780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location: the strictest policy applies.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892040" y="3767328"/>
            <a:ext cx="256032" cy="2560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488" y="3828776"/>
            <a:ext cx="133137" cy="133137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525780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recorded before any audio is captured.</a:t>
            </a:r>
            <a:endParaRPr lang="en-US" sz="1200" dirty="0"/>
          </a:p>
        </p:txBody>
      </p:sp>
      <p:sp>
        <p:nvSpPr>
          <p:cNvPr id="45" name="Text 4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engineering implementation of published statutes — not legal advice.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from real cost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27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385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$149</a:t>
            </a:r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$119/mo billed yearly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999232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579" y="3056291"/>
            <a:ext cx="123627" cy="12362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60704" y="2962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voice minutes / month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" y="3401568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79" y="3458627"/>
            <a:ext cx="123627" cy="12362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60704" y="33649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$0.30 / min after that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31520" y="3803904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79" y="3860963"/>
            <a:ext cx="123627" cy="12362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60704" y="376732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agent persona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268980" y="13716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A1E27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091940" y="122529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091940" y="12252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3543300" y="1627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543300" y="19385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$449</a:t>
            </a:r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3400" dirty="0"/>
          </a:p>
        </p:txBody>
      </p:sp>
      <p:sp>
        <p:nvSpPr>
          <p:cNvPr id="21" name="Text 16"/>
          <p:cNvSpPr txBox="1"/>
          <p:nvPr/>
        </p:nvSpPr>
        <p:spPr>
          <a:xfrm>
            <a:off x="3543300" y="2560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$359/mo billed yearly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543300" y="2999232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359" y="3056291"/>
            <a:ext cx="123627" cy="12362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872484" y="2962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voice minutes / month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543300" y="3401568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359" y="3458627"/>
            <a:ext cx="123627" cy="12362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872484" y="33649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$0.25 / min after that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3543300" y="3803904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0359" y="3860963"/>
            <a:ext cx="123627" cy="12362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872484" y="376732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 and encrypted credentials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080760" y="13716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355080" y="1627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355080" y="19385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$1,497</a:t>
            </a:r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3400" dirty="0"/>
          </a:p>
        </p:txBody>
      </p:sp>
      <p:sp>
        <p:nvSpPr>
          <p:cNvPr id="34" name="Text 26"/>
          <p:cNvSpPr txBox="1"/>
          <p:nvPr/>
        </p:nvSpPr>
        <p:spPr>
          <a:xfrm>
            <a:off x="6355080" y="2560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$1,197/mo billed yearly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355080" y="2999232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2139" y="3056291"/>
            <a:ext cx="123627" cy="12362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684264" y="2962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voice minutes / month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6355080" y="3401568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139" y="3458627"/>
            <a:ext cx="123627" cy="123627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684264" y="33649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$0.20 / min after that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6355080" y="3803904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2139" y="3860963"/>
            <a:ext cx="123627" cy="123627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684264" y="376732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brands, unlimited personas</a:t>
            </a:r>
            <a:endParaRPr lang="en-US" sz="1150" dirty="0"/>
          </a:p>
        </p:txBody>
      </p:sp>
      <p:sp>
        <p:nvSpPr>
          <p:cNvPr id="44" name="Shape 33"/>
          <p:cNvSpPr/>
          <p:nvPr/>
        </p:nvSpPr>
        <p:spPr>
          <a:xfrm>
            <a:off x="457200" y="4507992"/>
            <a:ext cx="274320" cy="2743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037" y="4573829"/>
            <a:ext cx="142646" cy="142646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841248" y="4507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Checkout. A plan activates only when Stripe's signed webhook confirms payment.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 that hold at full usage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$0.075 / min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 Voice Agent API, all-in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677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even if every included minute is used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552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 months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581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closed deal pays for Pro at a $3,500 contract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023360" y="1188720"/>
          <a:ext cx="46634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Stripe's 2.9% + $0.30. Overage never sells below cost, and a test in the suite enforces these floors.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 today — and 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2971800"/>
          </a:xfrm>
          <a:prstGeom prst="roundRect">
            <a:avLst>
              <a:gd name="adj" fmla="val 3692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B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01952"/>
            <a:ext cx="237744" cy="237744"/>
          </a:xfrm>
          <a:prstGeom prst="ellipse">
            <a:avLst/>
          </a:prstGeom>
          <a:solidFill>
            <a:srgbClr val="3DBE8B"/>
          </a:solidFill>
          <a:ln w="12700">
            <a:solidFill>
              <a:srgbClr val="3DBE8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579" y="1959011"/>
            <a:ext cx="123627" cy="1236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186537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calls on the AssemblyAI Voice Agent API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2276856"/>
            <a:ext cx="237744" cy="237744"/>
          </a:xfrm>
          <a:prstGeom prst="ellipse">
            <a:avLst/>
          </a:prstGeom>
          <a:solidFill>
            <a:srgbClr val="3DBE8B"/>
          </a:solidFill>
          <a:ln w="12700">
            <a:solidFill>
              <a:srgbClr val="3DBE8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79" y="2333915"/>
            <a:ext cx="123627" cy="1236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78992" y="22402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that write leads to Postgres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2651760"/>
            <a:ext cx="237744" cy="237744"/>
          </a:xfrm>
          <a:prstGeom prst="ellipse">
            <a:avLst/>
          </a:prstGeom>
          <a:solidFill>
            <a:srgbClr val="3DBE8B"/>
          </a:solidFill>
          <a:ln w="12700">
            <a:solidFill>
              <a:srgbClr val="3DBE8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79" y="2708819"/>
            <a:ext cx="123627" cy="12362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78992" y="26151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Embeddable widget with real voice sessions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31520" y="3026664"/>
            <a:ext cx="237744" cy="237744"/>
          </a:xfrm>
          <a:prstGeom prst="ellipse">
            <a:avLst/>
          </a:prstGeom>
          <a:solidFill>
            <a:srgbClr val="3DBE8B"/>
          </a:solidFill>
          <a:ln w="12700">
            <a:solidFill>
              <a:srgbClr val="3DBE8B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79" y="3083723"/>
            <a:ext cx="123627" cy="12362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78992" y="299008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and consent records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31520" y="3401568"/>
            <a:ext cx="237744" cy="237744"/>
          </a:xfrm>
          <a:prstGeom prst="ellipse">
            <a:avLst/>
          </a:prstGeom>
          <a:solidFill>
            <a:srgbClr val="3DBE8B"/>
          </a:solidFill>
          <a:ln w="12700">
            <a:solidFill>
              <a:srgbClr val="3DBE8B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579" y="3458627"/>
            <a:ext cx="123627" cy="12362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78992" y="33649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(test mode)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731520" y="3776472"/>
            <a:ext cx="237744" cy="237744"/>
          </a:xfrm>
          <a:prstGeom prst="ellipse">
            <a:avLst/>
          </a:prstGeom>
          <a:solidFill>
            <a:srgbClr val="3DBE8B"/>
          </a:solidFill>
          <a:ln w="12700">
            <a:solidFill>
              <a:srgbClr val="3DBE8B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579" y="3833531"/>
            <a:ext cx="123627" cy="123627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78992" y="373989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third-party credentials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663440" y="1280160"/>
            <a:ext cx="4023360" cy="2971800"/>
          </a:xfrm>
          <a:prstGeom prst="roundRect">
            <a:avLst>
              <a:gd name="adj" fmla="val 3692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493776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4937760" y="1901952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4819" y="1959011"/>
            <a:ext cx="123627" cy="123627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285232" y="186537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login and accounts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4937760" y="2276856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4819" y="2333915"/>
            <a:ext cx="123627" cy="123627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285232" y="22402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metering from live calls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4937760" y="2651760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4819" y="2708819"/>
            <a:ext cx="123627" cy="123627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285232" y="26151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integration</a:t>
            </a:r>
            <a:endParaRPr lang="en-US" sz="1200" dirty="0"/>
          </a:p>
        </p:txBody>
      </p:sp>
      <p:sp>
        <p:nvSpPr>
          <p:cNvPr id="34" name="Shape 23"/>
          <p:cNvSpPr/>
          <p:nvPr/>
        </p:nvSpPr>
        <p:spPr>
          <a:xfrm>
            <a:off x="4937760" y="3026664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4819" y="3083723"/>
            <a:ext cx="123627" cy="123627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285232" y="299008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Per-platform credential checks</a:t>
            </a:r>
            <a:endParaRPr lang="en-US" sz="1200" dirty="0"/>
          </a:p>
        </p:txBody>
      </p:sp>
      <p:sp>
        <p:nvSpPr>
          <p:cNvPr id="37" name="Shape 25"/>
          <p:cNvSpPr/>
          <p:nvPr/>
        </p:nvSpPr>
        <p:spPr>
          <a:xfrm>
            <a:off x="4937760" y="3401568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4819" y="3458627"/>
            <a:ext cx="123627" cy="123627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285232" y="33649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latency</a:t>
            </a:r>
            <a:endParaRPr lang="en-US" sz="1200" dirty="0"/>
          </a:p>
        </p:txBody>
      </p:sp>
      <p:sp>
        <p:nvSpPr>
          <p:cNvPr id="40" name="Text 27"/>
          <p:cNvSpPr txBox="1"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automated tests   · 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Vercel with Neon Postgres   · 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licensed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940357"/>
            <a:ext cx="103542" cy="691286"/>
          </a:xfrm>
          <a:prstGeom prst="roundRect">
            <a:avLst>
              <a:gd name="adj" fmla="val 50000"/>
            </a:avLst>
          </a:prstGeom>
          <a:solidFill>
            <a:srgbClr val="F2A93B">
              <a:alpha val="5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74659" y="1668780"/>
            <a:ext cx="103542" cy="1234440"/>
          </a:xfrm>
          <a:prstGeom prst="roundRect">
            <a:avLst>
              <a:gd name="adj" fmla="val 50000"/>
            </a:avLst>
          </a:prstGeom>
          <a:solidFill>
            <a:srgbClr val="F2A93B">
              <a:alpha val="67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62918" y="1323137"/>
            <a:ext cx="103542" cy="1925726"/>
          </a:xfrm>
          <a:prstGeom prst="roundRect">
            <a:avLst>
              <a:gd name="adj" fmla="val 50000"/>
            </a:avLst>
          </a:prstGeom>
          <a:solidFill>
            <a:srgbClr val="F2A93B">
              <a:alpha val="80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51176" y="1767535"/>
            <a:ext cx="103542" cy="1036930"/>
          </a:xfrm>
          <a:prstGeom prst="roundRect">
            <a:avLst>
              <a:gd name="adj" fmla="val 50000"/>
            </a:avLst>
          </a:prstGeom>
          <a:solidFill>
            <a:srgbClr val="F2A93B">
              <a:alpha val="64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9435" y="1051560"/>
            <a:ext cx="103542" cy="2468880"/>
          </a:xfrm>
          <a:prstGeom prst="roundRect">
            <a:avLst>
              <a:gd name="adj" fmla="val 50000"/>
            </a:avLst>
          </a:prstGeom>
          <a:solidFill>
            <a:srgbClr val="F2A93B">
              <a:alpha val="90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27694" y="1471270"/>
            <a:ext cx="103542" cy="1629461"/>
          </a:xfrm>
          <a:prstGeom prst="roundRect">
            <a:avLst>
              <a:gd name="adj" fmla="val 50000"/>
            </a:avLst>
          </a:prstGeom>
          <a:solidFill>
            <a:srgbClr val="F2A93B">
              <a:alpha val="75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15953" y="1175004"/>
            <a:ext cx="103542" cy="2221992"/>
          </a:xfrm>
          <a:prstGeom prst="roundRect">
            <a:avLst>
              <a:gd name="adj" fmla="val 50000"/>
            </a:avLst>
          </a:prstGeom>
          <a:solidFill>
            <a:srgbClr val="F2A93B">
              <a:alpha val="85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04212" y="1693469"/>
            <a:ext cx="103542" cy="1185062"/>
          </a:xfrm>
          <a:prstGeom prst="roundRect">
            <a:avLst>
              <a:gd name="adj" fmla="val 50000"/>
            </a:avLst>
          </a:prstGeom>
          <a:solidFill>
            <a:srgbClr val="F2A93B">
              <a:alpha val="67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2471" y="1372514"/>
            <a:ext cx="103542" cy="1826971"/>
          </a:xfrm>
          <a:prstGeom prst="roundRect">
            <a:avLst>
              <a:gd name="adj" fmla="val 50000"/>
            </a:avLst>
          </a:prstGeom>
          <a:solidFill>
            <a:srgbClr val="F2A93B">
              <a:alpha val="7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80729" y="1866290"/>
            <a:ext cx="103542" cy="839419"/>
          </a:xfrm>
          <a:prstGeom prst="roundRect">
            <a:avLst>
              <a:gd name="adj" fmla="val 50000"/>
            </a:avLst>
          </a:prstGeom>
          <a:solidFill>
            <a:srgbClr val="F2A93B">
              <a:alpha val="60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8988" y="1545336"/>
            <a:ext cx="103542" cy="1481328"/>
          </a:xfrm>
          <a:prstGeom prst="roundRect">
            <a:avLst>
              <a:gd name="adj" fmla="val 50000"/>
            </a:avLst>
          </a:prstGeom>
          <a:solidFill>
            <a:srgbClr val="F2A93B">
              <a:alpha val="7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57247" y="1113282"/>
            <a:ext cx="103542" cy="2345436"/>
          </a:xfrm>
          <a:prstGeom prst="roundRect">
            <a:avLst>
              <a:gd name="adj" fmla="val 50000"/>
            </a:avLst>
          </a:prstGeom>
          <a:solidFill>
            <a:srgbClr val="F2A93B">
              <a:alpha val="8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45506" y="1644091"/>
            <a:ext cx="103542" cy="1283818"/>
          </a:xfrm>
          <a:prstGeom prst="roundRect">
            <a:avLst>
              <a:gd name="adj" fmla="val 50000"/>
            </a:avLst>
          </a:prstGeom>
          <a:solidFill>
            <a:srgbClr val="F2A93B">
              <a:alpha val="6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33765" y="1298448"/>
            <a:ext cx="103542" cy="1975104"/>
          </a:xfrm>
          <a:prstGeom prst="roundRect">
            <a:avLst>
              <a:gd name="adj" fmla="val 50000"/>
            </a:avLst>
          </a:prstGeom>
          <a:solidFill>
            <a:srgbClr val="F2A93B">
              <a:alpha val="81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2024" y="1816913"/>
            <a:ext cx="103542" cy="938174"/>
          </a:xfrm>
          <a:prstGeom prst="roundRect">
            <a:avLst>
              <a:gd name="adj" fmla="val 50000"/>
            </a:avLst>
          </a:prstGeom>
          <a:solidFill>
            <a:srgbClr val="F2A93B">
              <a:alpha val="6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10282" y="1495958"/>
            <a:ext cx="103542" cy="1580083"/>
          </a:xfrm>
          <a:prstGeom prst="roundRect">
            <a:avLst>
              <a:gd name="adj" fmla="val 50000"/>
            </a:avLst>
          </a:prstGeom>
          <a:solidFill>
            <a:srgbClr val="F2A93B">
              <a:alpha val="74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98541" y="1915668"/>
            <a:ext cx="103542" cy="740664"/>
          </a:xfrm>
          <a:prstGeom prst="roundRect">
            <a:avLst>
              <a:gd name="adj" fmla="val 50000"/>
            </a:avLst>
          </a:prstGeom>
          <a:solidFill>
            <a:srgbClr val="F2A93B">
              <a:alpha val="5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10972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it.</a:t>
            </a:r>
            <a:endParaRPr lang="en-US" sz="5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057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growthvoice-os.vercel.app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call and talk to it. Then open /widget-preview to see the one-line embed on a third-party page.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github.com/dev4-gpt/VoiceAI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GrowthVoice OS — every after-hours visitor gets an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GrowthVoice OS — Pitch Deck</dc:title>
  <dc:subject>PptxGenJS Presentation</dc:subject>
  <dc:creator>Aryaman Singh Dev</dc:creator>
  <cp:lastModifiedBy>Aryaman Singh Dev</cp:lastModifiedBy>
  <cp:revision>1</cp:revision>
  <dcterms:created xsi:type="dcterms:W3CDTF">2026-09-11T17:57:11Z</dcterms:created>
  <dcterms:modified xsi:type="dcterms:W3CDTF">2026-09-11T17:57:11Z</dcterms:modified>
</cp:coreProperties>
</file>